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Official Elections Alberta shapefiles received; analysis complete</a:t>
            </a:r>
          </a:p>
          <a:p>
            <a:r>
              <a:t>• 50,000 neutral maps generated, all 3 pre-registered test channels executed</a:t>
            </a:r>
          </a:p>
          <a:p>
            <a:r>
              <a:t>• 4 OSF pre-registrations filed; Fisher combined result in hand</a:t>
            </a:r>
          </a:p>
          <a:p>
            <a:br/>
            <a:r>
              <a:t>A computational comparison of two proposed 2026 maps against a distribution of 50,000 maps drawn by purely population-constrained random redistricting.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One Question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Does the minority map fall within the distribution of maps a neutral, unbiased redistricting process would produce?</a:t>
            </a:r>
          </a:p>
          <a:p/>
          <a:p>
            <a:r>
              <a:t>(The majority map and the minority map start from the same legal constraints. The question is whether their outcomes are statistically interchangeable.)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50,000 Neutral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ReCom algorithm (MGGG/Tufts) — random redistricting, no partisan knowledge</a:t>
            </a:r>
          </a:p>
          <a:p>
            <a:r>
              <a:t>• 4,765 VA polygons (Elections Alberta official geometry)</a:t>
            </a:r>
          </a:p>
          <a:p>
            <a:r>
              <a:t>• ±25% population constraint — same rule the commission used</a:t>
            </a:r>
          </a:p>
          <a:p>
            <a:r>
              <a:t>• Scored on 4 metrics: Efficiency Gap, Mean-Median, Declination, Seats@50/50</a:t>
            </a:r>
          </a:p>
          <a:p>
            <a:r>
              <a:t>• Pre-registered before shapefiles arrived; thresholds locked to drand beacon</a:t>
            </a:r>
            <a:br/>
          </a:p>
          <a:p>
            <a:pPr>
              <a:defRPr b="1"/>
            </a:pPr>
            <a:r>
              <a:t>Pre-registration = the goalposts cannot move after seeing the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1: Joint Partisan 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Minority 2026: Mahalanobis = 6.11 | p = 1.60 × 10⁻⁷ | Outside null</a:t>
            </a:r>
          </a:p>
          <a:p>
            <a:r>
              <a:t>Majority 2026: Mahalanobis = 2.69 | p = 0.125 | Within null</a:t>
            </a:r>
          </a:p>
          <a:p>
            <a:r>
              <a:t>2019 Enacted: Mahalanobis = 3.56 | p = 0.013 | Modest lean</a:t>
            </a:r>
          </a:p>
          <a:p>
            <a:br/>
            <a:r>
              <a:t>Ensemble centre is already +1.6 pp UCP-leaning due to Alberta's geography. The minority map is an outlier beyond that natural baseline.</a:t>
            </a:r>
          </a:p>
          <a:p>
            <a:r>
              <a:rPr lang="en-US" sz="1400" dirty="0">
                <a:solidFill>
                  <a:srgbClr val="888888"/>
                </a:solidFill>
              </a:rPr>
              <a:t>(n_eff-adjusted via Hotelling T²: p = 7.9 × 10⁻⁷ — survives ESS correction)</a:t>
            </a:r>
          </a:p>
          <a:p>
            <a:br/>
            <a:pPr algn="ctr">
              <a:defRPr sz="4000" b="1"/>
            </a:pPr>
            <a:r>
              <a:t>p = 1.60 × 10⁻⁷</a:t>
            </a:r>
          </a:p>
        </p:txBody>
      </p:sp>
      <p:pic>
        <p:nvPicPr>
          <p:cNvPr id="4" name="Picture 3" descr="infographic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25880"/>
            <a:ext cx="8595360" cy="48348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2 + Fisher Combined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SZAT: 2,108 of 4,765 VAs assigned differently between the two maps</a:t>
            </a:r>
          </a:p>
          <a:p>
            <a:r>
              <a:t>• Bootstrap null (10,000 reshuffles): p = 0.0044</a:t>
            </a:r>
          </a:p>
          <a:p>
            <a:r>
              <a:t>• Fisher combined (Channels 1 + 2): p = 1.55 × 10⁻⁸</a:t>
            </a:r>
          </a:p>
          <a:p>
            <a:br/>
            <a:pPr algn="ctr">
              <a:defRPr sz="4000" b="1"/>
            </a:pPr>
            <a:r>
              <a:t>1 in 64 million</a:t>
            </a:r>
            <a:br/>
          </a:p>
          <a:p>
            <a:r>
              <a:t>Fisher combined was the pre-registered primary outcome — not post-hoc</a:t>
            </a:r>
          </a:p>
          <a:p>
            <a:r>
              <a:t>Directional context: Minority map population variance: 98.9th percentile of ensemble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3: Neighbour-Drain — Null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Tests pack-crack coupling mechanism (not outcome)</a:t>
            </a:r>
          </a:p>
          <a:p>
            <a:r>
              <a:t>• Minority map: within null (p = 0.134)</a:t>
            </a:r>
          </a:p>
          <a:p>
            <a:r>
              <a:t>• Majority map: anomalously clean (p &lt; 0.0001, inverted)</a:t>
            </a:r>
          </a:p>
          <a:p>
            <a:r>
              <a:t>• Pre-registered predictions A and B not confirmed</a:t>
            </a:r>
            <a:br/>
          </a:p>
          <a:p>
            <a:pPr>
              <a:defRPr b="1"/>
            </a:pPr>
            <a:r>
              <a:t>The mechanism is not confirmed. The outcome findings (Ch1, Ch2) stand independently. All three channels are disclosed.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Justification Tests — All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Could the minority map's configurations be explained by population math or area law?</a:t>
            </a:r>
          </a:p>
          <a:p/>
          <a:p>
            <a:r>
              <a:t>1. Olds–Three Hills–Didsbury</a:t>
            </a:r>
          </a:p>
          <a:p>
            <a:r>
              <a:t>2. Rocky Mountain House–Banff extension</a:t>
            </a:r>
          </a:p>
          <a:p>
            <a:r>
              <a:t>3. Airdrie 4-way split</a:t>
            </a:r>
          </a:p>
          <a:p>
            <a:r>
              <a:t>4. Red Deer 4 districts</a:t>
            </a:r>
          </a:p>
          <a:p>
            <a:r>
              <a:t>5. Chestermere into Calgary-Peigan</a:t>
            </a:r>
            <a:br/>
          </a:p>
          <a:p>
            <a:pPr>
              <a:defRPr b="1"/>
            </a:pPr>
            <a:r>
              <a:t>The math does not force these choices. Cleaner alternatives exist in every case, and the majority map found them.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Does and Does Not 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DOES SAY:</a:t>
            </a:r>
          </a:p>
          <a:p>
            <a:r>
              <a:t>• The minority map sits at an extreme statistical position relative to neutral redistricting</a:t>
            </a:r>
          </a:p>
          <a:p>
            <a:r>
              <a:t>• Two independent pre-registered tests reject the null</a:t>
            </a:r>
          </a:p>
          <a:p>
            <a:r>
              <a:t>• Five contested configurations have simpler neutral alternatives</a:t>
            </a:r>
            <a:br/>
          </a:p>
          <a:p>
            <a:r>
              <a:t>DOES NOT SAY:</a:t>
            </a:r>
          </a:p>
          <a:p>
            <a:r>
              <a:t>• Who drew the map with what intent</a:t>
            </a:r>
          </a:p>
          <a:p>
            <a:r>
              <a:t>• Whether this constitutes a gerrymander in law</a:t>
            </a:r>
          </a:p>
          <a:p>
            <a:r>
              <a:t>• Anything about individual MLAs or cabinet ministers</a:t>
            </a:r>
            <a:br/>
          </a:p>
          <a:p>
            <a:pPr>
              <a:defRPr i="1"/>
            </a:pPr>
            <a:r>
              <a:t>This is a statistical instrument. Legal and political conclusions belong to others.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Pre-Registered and Waiting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Lunty committee (91-seat map, tabling late 2026) already pre-registered</a:t>
            </a:r>
          </a:p>
          <a:p>
            <a:r>
              <a:t>• AsPredicted #289,455 / OSF osf.io/qsgy8</a:t>
            </a:r>
          </a:p>
          <a:p>
            <a:r>
              <a:t>• 17-point signature scorecard locked to April 27 drand beacon</a:t>
            </a:r>
          </a:p>
          <a:p>
            <a:r>
              <a:t>• Within 72 hours of tabling: automatic evaluation</a:t>
            </a:r>
            <a:br/>
          </a:p>
          <a:p>
            <a:pPr>
              <a:defRPr b="1"/>
            </a:pPr>
            <a:r>
              <a:t>• The criteria exist before the map exists</a:t>
            </a:r>
            <a:br/>
          </a:p>
          <a:p>
            <a:r>
              <a:t>• Total chain: 4 pre-registrations, all public since May 7,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Academic review of methodology before SSRN submission</a:t>
            </a:r>
          </a:p>
          <a:p>
            <a:r>
              <a:t>2. Brief commentary or framing note for the public report</a:t>
            </a:r>
          </a:p>
          <a:p>
            <a:r>
              <a:t>3. Referral into CPSA or Canadian electoral studies community</a:t>
            </a:r>
            <a:br/>
            <a:br/>
          </a:p>
          <a:p>
            <a:pPr>
              <a:defRPr b="1"/>
            </a:pPr>
            <a:r>
              <a:t>The Phase 1 analysis is done. The Phase 2 trigger is pre-registered. I'm not going to the press until I've had academic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